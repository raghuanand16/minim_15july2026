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9" r:id="rId2"/>
    <p:sldId id="280" r:id="rId3"/>
    <p:sldId id="27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80248"/>
  </p:normalViewPr>
  <p:slideViewPr>
    <p:cSldViewPr snapToGrid="0" snapToObjects="1">
      <p:cViewPr varScale="1">
        <p:scale>
          <a:sx n="124" d="100"/>
          <a:sy n="124" d="100"/>
        </p:scale>
        <p:origin x="1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42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"Quick disclosure before we start — I used Claude to help build this workshop, and I've reviewed everything in it myself."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"Good morning, everyone. Thank you for having me.</a:t>
            </a:r>
          </a:p>
          <a:p>
            <a:endParaRPr lang="en-IN" dirty="0"/>
          </a:p>
          <a:p>
            <a:r>
              <a:rPr lang="en-IN" dirty="0"/>
              <a:t>I’m Raghu Anand, and over the next 60 minutes we're doing something a little different from a typical guest lecture.</a:t>
            </a:r>
          </a:p>
          <a:p>
            <a:endParaRPr lang="en-IN" dirty="0"/>
          </a:p>
          <a:p>
            <a:r>
              <a:rPr lang="en-IN" dirty="0"/>
              <a:t>This is called 'Digital Skills for Future Managers' — and the real point is: how do you, as future managers in HR, Finance, and Marketing, actually use AI tools to do your job better, starting today.</a:t>
            </a:r>
          </a:p>
          <a:p>
            <a:endParaRPr lang="en-IN" dirty="0"/>
          </a:p>
          <a:p>
            <a:r>
              <a:rPr lang="en-IN" dirty="0"/>
              <a:t>We're going to move fast, do live demos, and about halfway through you'll get hands-on yourselves. So have your phone or laptop ready — you'll need it."</a:t>
            </a:r>
          </a:p>
          <a:p>
            <a:endParaRPr lang="en-US" dirty="0"/>
          </a:p>
          <a:p>
            <a:r>
              <a:rPr lang="en-US" dirty="0"/>
              <a:t>=========</a:t>
            </a:r>
          </a:p>
          <a:p>
            <a:endParaRPr lang="en-US" dirty="0"/>
          </a:p>
          <a:p>
            <a:r>
              <a:rPr lang="en-IN" dirty="0"/>
              <a:t>"Let me show you quickly how we'll spend our time."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"Here's the shape of the next hour. We'll open with a quick hook and a couple of questions, then spend some time on the fundamentals of how these tools actually work and how to prompt them well.</a:t>
            </a:r>
          </a:p>
          <a:p>
            <a:endParaRPr lang="en-IN" dirty="0"/>
          </a:p>
          <a:p>
            <a:r>
              <a:rPr lang="en-IN" dirty="0"/>
              <a:t>Then the fun part starts — I'll run five quick live demos showing how a manager actually uses AI day to day. </a:t>
            </a:r>
          </a:p>
          <a:p>
            <a:endParaRPr lang="en-IN" dirty="0"/>
          </a:p>
          <a:p>
            <a:r>
              <a:rPr lang="en-IN" dirty="0"/>
              <a:t>Right after that, you'll get two minutes to fix a bad prompt yourselves, before diving into a full hands-on challenge in groups.</a:t>
            </a:r>
          </a:p>
          <a:p>
            <a:endParaRPr lang="en-IN" dirty="0"/>
          </a:p>
          <a:p>
            <a:r>
              <a:rPr lang="en-IN" dirty="0"/>
              <a:t>We'll close with a framework you can walk out with today, and one challenge for you to try before next week.</a:t>
            </a:r>
          </a:p>
          <a:p>
            <a:endParaRPr lang="en-IN" dirty="0"/>
          </a:p>
          <a:p>
            <a:r>
              <a:rPr lang="en-IN" dirty="0"/>
              <a:t>Let's get into it.”</a:t>
            </a:r>
          </a:p>
          <a:p>
            <a:endParaRPr lang="en-IN" dirty="0"/>
          </a:p>
          <a:p>
            <a:r>
              <a:rPr lang="en-IN" dirty="0"/>
              <a:t>==========</a:t>
            </a:r>
          </a:p>
          <a:p>
            <a:endParaRPr lang="en-IN" dirty="0"/>
          </a:p>
          <a:p>
            <a:r>
              <a:rPr lang="en-IN" dirty="0"/>
              <a:t>"Alright — let's start with a question."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"Imagine it's 2030. Two MBA graduates join the same company with identical grades. First One knows how to work with AI effectively. The Second One doesn’t.</a:t>
            </a:r>
          </a:p>
          <a:p>
            <a:endParaRPr lang="en-IN" dirty="0"/>
          </a:p>
          <a:p>
            <a:r>
              <a:rPr lang="en-IN" dirty="0"/>
              <a:t>Six months later — who becomes indispensable?”</a:t>
            </a:r>
          </a:p>
          <a:p>
            <a:endParaRPr lang="en-IN" dirty="0"/>
          </a:p>
          <a:p>
            <a:r>
              <a:rPr lang="en-IN" dirty="0"/>
              <a:t>====================================</a:t>
            </a:r>
          </a:p>
          <a:p>
            <a:endParaRPr lang="en-IN" dirty="0"/>
          </a:p>
          <a:p>
            <a:r>
              <a:rPr lang="en-IN" dirty="0"/>
              <a:t>"Today's workshop is about becoming the first One!.</a:t>
            </a:r>
          </a:p>
          <a:p>
            <a:endParaRPr lang="en-IN" dirty="0"/>
          </a:p>
          <a:p>
            <a:r>
              <a:rPr lang="en-IN" dirty="0"/>
              <a:t>Quick show of hands — two questions.</a:t>
            </a:r>
          </a:p>
          <a:p>
            <a:endParaRPr lang="en-IN" dirty="0"/>
          </a:p>
          <a:p>
            <a:r>
              <a:rPr lang="en-IN" dirty="0"/>
              <a:t>One: who here has used ChatGPT, Gemini, or Copilot for something beyond an assignment — a real task, an internship, something that mattered?</a:t>
            </a:r>
          </a:p>
          <a:p>
            <a:endParaRPr lang="en-IN" dirty="0"/>
          </a:p>
          <a:p>
            <a:r>
              <a:rPr lang="en-IN" dirty="0"/>
              <a:t>[Take the hands, note the rough split, maybe comment briefly — 'okay, good mix in the room.’]</a:t>
            </a:r>
          </a:p>
          <a:p>
            <a:endParaRPr lang="en-IN" dirty="0"/>
          </a:p>
          <a:p>
            <a:r>
              <a:rPr lang="en-IN" dirty="0"/>
              <a:t>Two: who thinks AI is going to make a manager's job easier? ... And who thinks harder?</a:t>
            </a:r>
          </a:p>
          <a:p>
            <a:endParaRPr lang="en-IN" dirty="0"/>
          </a:p>
          <a:p>
            <a:r>
              <a:rPr lang="en-IN" dirty="0"/>
              <a:t>[Take both hands. No need to resolve the debate — just acknowledge it's split and move on.]”</a:t>
            </a:r>
          </a:p>
          <a:p>
            <a:endParaRPr lang="en-IN" dirty="0"/>
          </a:p>
          <a:p>
            <a:r>
              <a:rPr lang="en-IN" dirty="0"/>
              <a:t>===============</a:t>
            </a:r>
          </a:p>
          <a:p>
            <a:endParaRPr lang="en-IN" dirty="0"/>
          </a:p>
          <a:p>
            <a:r>
              <a:rPr lang="en-IN" dirty="0"/>
              <a:t>"Alright — let's talk about why this matters no matter what you specialize in."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"Three quick reasons this isn't optional, whatever you're specializing in.</a:t>
            </a:r>
          </a:p>
          <a:p>
            <a:endParaRPr lang="en-IN" dirty="0"/>
          </a:p>
          <a:p>
            <a:r>
              <a:rPr lang="en-IN" dirty="0"/>
              <a:t>One — management itself is changing. The routine stuff — drafting, first-pass analysis, basic research — that's getting automated. What's left, and what actually matters more now, is judgment: asking the right question and knowing when to double-check the answer.</a:t>
            </a:r>
          </a:p>
          <a:p>
            <a:endParaRPr lang="en-IN" dirty="0"/>
          </a:p>
          <a:p>
            <a:r>
              <a:rPr lang="en-IN" dirty="0"/>
              <a:t>Two — employers are already testing for this. It shows up in case interviews, internship tasks, job descriptions — across HR, Finance, Marketing, all of it.</a:t>
            </a:r>
          </a:p>
          <a:p>
            <a:endParaRPr lang="en-IN" dirty="0"/>
          </a:p>
          <a:p>
            <a:r>
              <a:rPr lang="en-IN" dirty="0"/>
              <a:t>Three — and this is the important one for this room — this isn't an IT skill. You don't need to code. You need to know which tool to reach for, and how to ask it for what you actually need."</a:t>
            </a:r>
          </a:p>
          <a:p>
            <a:endParaRPr lang="en-US" dirty="0"/>
          </a:p>
          <a:p>
            <a:r>
              <a:rPr lang="en-US" dirty="0"/>
              <a:t>=====================</a:t>
            </a:r>
          </a:p>
          <a:p>
            <a:endParaRPr lang="en-US" dirty="0"/>
          </a:p>
          <a:p>
            <a:r>
              <a:rPr lang="en-IN" dirty="0"/>
              <a:t>"So — what's actually going on under the hood when you type into one of these tools? Let's make sure that part's clear before we start demoing."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"Quick foundation before we start clicking around — what's actually happening when you type into ChatGPT or Gemini or Copilot?</a:t>
            </a:r>
          </a:p>
          <a:p>
            <a:endParaRPr lang="en-IN" dirty="0"/>
          </a:p>
          <a:p>
            <a:r>
              <a:rPr lang="en-IN" dirty="0"/>
              <a:t>It's not looking anything up. It's predicting the most likely next words based on your input. That's it. It doesn't 'know' facts the way a database or a search engine does — it's generating text that's statistically likely to be a good answer.</a:t>
            </a:r>
          </a:p>
          <a:p>
            <a:endParaRPr lang="en-IN" dirty="0"/>
          </a:p>
          <a:p>
            <a:r>
              <a:rPr lang="en-IN" dirty="0"/>
              <a:t>Three things follow from that.</a:t>
            </a:r>
          </a:p>
          <a:p>
            <a:endParaRPr lang="en-IN" dirty="0"/>
          </a:p>
          <a:p>
            <a:r>
              <a:rPr lang="en-IN" dirty="0"/>
              <a:t>One — because it generates rather than retrieves, it can sound completely confident and still be wrong. That matters, and we're going to see it happen live in a few minutes.</a:t>
            </a:r>
          </a:p>
          <a:p>
            <a:endParaRPr lang="en-IN" dirty="0"/>
          </a:p>
          <a:p>
            <a:r>
              <a:rPr lang="en-IN" dirty="0"/>
              <a:t>Two — context changes everything. The more relevant detail you give it, the sharper and more useful the output. Vague in, vague out.</a:t>
            </a:r>
          </a:p>
          <a:p>
            <a:endParaRPr lang="en-IN" dirty="0"/>
          </a:p>
          <a:p>
            <a:r>
              <a:rPr lang="en-IN" dirty="0"/>
              <a:t>Three — it has no memory of your business. Unless you tell it, it doesn't know your company, your data, your goals, any of it. You have to bring that context every time.”</a:t>
            </a:r>
          </a:p>
          <a:p>
            <a:endParaRPr lang="en-IN" dirty="0"/>
          </a:p>
          <a:p>
            <a:r>
              <a:rPr lang="en-IN" dirty="0"/>
              <a:t>==============</a:t>
            </a:r>
          </a:p>
          <a:p>
            <a:endParaRPr lang="en-IN" dirty="0"/>
          </a:p>
          <a:p>
            <a:r>
              <a:rPr lang="en-IN" dirty="0"/>
              <a:t>"So if it's this sensitive to what you feed it — how do you actually write a good prompt? Here's a simple formula."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"Here's the one formula I want you to walk out with today. Four parts.</a:t>
            </a:r>
          </a:p>
          <a:p>
            <a:endParaRPr lang="en-IN" dirty="0"/>
          </a:p>
          <a:p>
            <a:r>
              <a:rPr lang="en-IN" dirty="0"/>
              <a:t>Role — tell it who to be. 'Act as an HR manager.’</a:t>
            </a:r>
          </a:p>
          <a:p>
            <a:br>
              <a:rPr lang="en-IN" dirty="0"/>
            </a:br>
            <a:r>
              <a:rPr lang="en-IN" dirty="0"/>
              <a:t>Task — what you actually need. 'Write a job description for...’</a:t>
            </a:r>
          </a:p>
          <a:p>
            <a:br>
              <a:rPr lang="en-IN" dirty="0"/>
            </a:br>
            <a:r>
              <a:rPr lang="en-IN" dirty="0"/>
              <a:t>Context — the specifics that make it useful. 'For a mid-size FMCG firm, three years experience.’</a:t>
            </a:r>
          </a:p>
          <a:p>
            <a:br>
              <a:rPr lang="en-IN" dirty="0"/>
            </a:br>
            <a:r>
              <a:rPr lang="en-IN" dirty="0"/>
              <a:t>Format — how you want it back. 'Under 200 words, bullet format.’</a:t>
            </a:r>
          </a:p>
          <a:p>
            <a:endParaRPr lang="en-IN" dirty="0"/>
          </a:p>
          <a:p>
            <a:r>
              <a:rPr lang="en-IN" dirty="0"/>
              <a:t>Watch what this does in practice."</a:t>
            </a:r>
          </a:p>
          <a:p>
            <a:r>
              <a:rPr lang="en-IN" i="1" dirty="0"/>
              <a:t>(Now live-type this on screen, in ChatGPT or whichever tool you're demoing on:)</a:t>
            </a:r>
          </a:p>
          <a:p>
            <a:endParaRPr lang="en-IN" dirty="0"/>
          </a:p>
          <a:p>
            <a:r>
              <a:rPr lang="en-IN" dirty="0"/>
              <a:t>"Write a marketing email."</a:t>
            </a:r>
          </a:p>
          <a:p>
            <a:r>
              <a:rPr lang="en-IN" i="1" dirty="0"/>
              <a:t>(Let that sit on screen for a second.)</a:t>
            </a:r>
          </a:p>
          <a:p>
            <a:endParaRPr lang="en-IN" dirty="0"/>
          </a:p>
          <a:p>
            <a:r>
              <a:rPr lang="en-IN" dirty="0"/>
              <a:t>"That's a vague prompt. Watch what happens when I add the four parts."</a:t>
            </a:r>
          </a:p>
          <a:p>
            <a:r>
              <a:rPr lang="en-IN" i="1" dirty="0"/>
              <a:t>(Type, live, building it piece by piece:)</a:t>
            </a:r>
          </a:p>
          <a:p>
            <a:endParaRPr lang="en-IN" dirty="0"/>
          </a:p>
          <a:p>
            <a:r>
              <a:rPr lang="en-IN" dirty="0"/>
              <a:t>"Act as a marketing manager. Write a 100-word email to existing customers announcing a 20% festive discount, in a warm, friendly tone."</a:t>
            </a:r>
          </a:p>
          <a:p>
            <a:r>
              <a:rPr lang="en-IN" dirty="0"/>
              <a:t>"Same request. Completely different output quality. This is the only formula you need for the rest of today — every demo, and the exercise you'll do yourselves in a bit, all comes back to this."</a:t>
            </a:r>
          </a:p>
          <a:p>
            <a:endParaRPr lang="en-US" dirty="0"/>
          </a:p>
          <a:p>
            <a:r>
              <a:rPr lang="en-US" dirty="0"/>
              <a:t>=============</a:t>
            </a:r>
          </a:p>
          <a:p>
            <a:endParaRPr lang="en-US" dirty="0"/>
          </a:p>
          <a:p>
            <a:r>
              <a:rPr lang="en-IN" dirty="0"/>
              <a:t>"Alright — formula in hand. Let's go see what a manager's actual day looks like with these tools."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"Okay — here's what the rest of a manager's day looks like. Five things: communicate, </a:t>
            </a:r>
            <a:r>
              <a:rPr lang="en-IN" dirty="0" err="1"/>
              <a:t>analyze</a:t>
            </a:r>
            <a:r>
              <a:rPr lang="en-IN" dirty="0"/>
              <a:t>, research, present, automate. I'm going to show you all five, live, using real tools.</a:t>
            </a:r>
          </a:p>
          <a:p>
            <a:endParaRPr lang="en-IN" dirty="0"/>
          </a:p>
          <a:p>
            <a:r>
              <a:rPr lang="en-IN" dirty="0"/>
              <a:t>Before each one — quick prediction game. I'll tell you the task, and I want a couple of guesses: what do you think AI will get right here, and where do you think it might fall short?"</a:t>
            </a:r>
          </a:p>
          <a:p>
            <a:endParaRPr lang="en-US" dirty="0"/>
          </a:p>
          <a:p>
            <a:r>
              <a:rPr lang="en-US" dirty="0"/>
              <a:t>==============</a:t>
            </a:r>
          </a:p>
          <a:p>
            <a:endParaRPr lang="en-US" dirty="0"/>
          </a:p>
          <a:p>
            <a:r>
              <a:rPr lang="en-IN" dirty="0"/>
              <a:t>"First up — Communicate. What do you think AI gets right, and wrong, writing something like an email?"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 to say:</a:t>
            </a:r>
            <a:endParaRPr lang="en-IN" dirty="0"/>
          </a:p>
          <a:p>
            <a:r>
              <a:rPr lang="en-IN" dirty="0"/>
              <a:t>"Take those guesses — what does AI get right or wrong writing an email like this?</a:t>
            </a:r>
          </a:p>
          <a:p>
            <a:endParaRPr lang="en-IN" dirty="0"/>
          </a:p>
          <a:p>
            <a:r>
              <a:rPr lang="en-IN" dirty="0"/>
              <a:t>[Take 2–3 quick answers from the earlier prediction prompt.]</a:t>
            </a:r>
          </a:p>
          <a:p>
            <a:r>
              <a:rPr lang="en-IN" dirty="0"/>
              <a:t>Let's find out. I'm going to use our formula live.”</a:t>
            </a:r>
          </a:p>
          <a:p>
            <a:endParaRPr lang="en-IN" dirty="0"/>
          </a:p>
          <a:p>
            <a:r>
              <a:rPr lang="en-IN" i="1" dirty="0"/>
              <a:t>(Consider inviting a volunteer up to build this prompt with you instead of typing it yourself — it raises engagement heading into the rest of the demos. If you do, hand them the mic/keyboard here.)</a:t>
            </a:r>
            <a:endParaRPr lang="en-IN" dirty="0"/>
          </a:p>
          <a:p>
            <a:r>
              <a:rPr lang="en-IN" i="1" dirty="0"/>
              <a:t>(Type live, don't paste — build it piece by piece on screen:)</a:t>
            </a:r>
          </a:p>
          <a:p>
            <a:endParaRPr lang="en-IN" dirty="0"/>
          </a:p>
          <a:p>
            <a:r>
              <a:rPr lang="en-IN" dirty="0"/>
              <a:t>"Act as an HR manager. Write a 120-word email to a shortlisted candidate inviting them for a second interview next Tuesday at 3 PM, in a warm and professional tone."</a:t>
            </a:r>
          </a:p>
          <a:p>
            <a:r>
              <a:rPr lang="en-IN" i="1" dirty="0"/>
              <a:t>(Run it. Read the output aloud.)</a:t>
            </a:r>
          </a:p>
          <a:p>
            <a:endParaRPr lang="en-IN" dirty="0"/>
          </a:p>
          <a:p>
            <a:r>
              <a:rPr lang="en-IN" dirty="0"/>
              <a:t>"Notice what we just did — we gave it a role, a task, context, and a format. That's the formula, steps one through three, right there in one sentence.</a:t>
            </a:r>
          </a:p>
          <a:p>
            <a:endParaRPr lang="en-IN" dirty="0"/>
          </a:p>
          <a:p>
            <a:r>
              <a:rPr lang="en-IN" dirty="0"/>
              <a:t>And this isn't just an HR thing. Same skill, different context, every function. HR — an offer letter. Marketing — a proposal email to a client. Finance — clarifying a budget variance to a department head. Same formula, completely different use case.”</a:t>
            </a:r>
          </a:p>
          <a:p>
            <a:endParaRPr lang="en-IN" dirty="0"/>
          </a:p>
          <a:p>
            <a:r>
              <a:rPr lang="en-IN" dirty="0"/>
              <a:t>============</a:t>
            </a:r>
          </a:p>
          <a:p>
            <a:endParaRPr lang="en-IN" dirty="0"/>
          </a:p>
          <a:p>
            <a:r>
              <a:rPr lang="en-IN" dirty="0"/>
              <a:t>"Next up — </a:t>
            </a:r>
            <a:r>
              <a:rPr lang="en-IN" dirty="0" err="1"/>
              <a:t>Analyze</a:t>
            </a:r>
            <a:r>
              <a:rPr lang="en-IN" dirty="0"/>
              <a:t>. Before I show you: what can AI find in messy data that would normally take you an hour?"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 to say:</a:t>
            </a:r>
            <a:endParaRPr lang="en-IN" dirty="0"/>
          </a:p>
          <a:p>
            <a:r>
              <a:rPr lang="en-IN" dirty="0"/>
              <a:t>"Alright — take those guesses. What can AI find in messy data that would normally take you an hour?</a:t>
            </a:r>
          </a:p>
          <a:p>
            <a:endParaRPr lang="en-IN" dirty="0"/>
          </a:p>
          <a:p>
            <a:r>
              <a:rPr lang="en-IN" dirty="0"/>
              <a:t>[Take 2–3 answers.]</a:t>
            </a:r>
          </a:p>
          <a:p>
            <a:endParaRPr lang="en-IN" dirty="0"/>
          </a:p>
          <a:p>
            <a:r>
              <a:rPr lang="en-IN" dirty="0"/>
              <a:t>Watch this.”</a:t>
            </a:r>
          </a:p>
          <a:p>
            <a:endParaRPr lang="en-IN" dirty="0"/>
          </a:p>
          <a:p>
            <a:r>
              <a:rPr lang="en-IN" i="1" dirty="0"/>
              <a:t>(Upload your pre-loaded messy sales/survey spreadsheet. Type the prompt live — don't paste it.)</a:t>
            </a:r>
          </a:p>
          <a:p>
            <a:endParaRPr lang="en-IN" dirty="0"/>
          </a:p>
          <a:p>
            <a:r>
              <a:rPr lang="en-IN" dirty="0"/>
              <a:t>"Act as a business analyst. Summarize the key trends in this sales data, identify the top 3 underperforming regions, and suggest one possible reason for each — in a short table.”</a:t>
            </a:r>
          </a:p>
          <a:p>
            <a:endParaRPr lang="en-IN" dirty="0"/>
          </a:p>
          <a:p>
            <a:r>
              <a:rPr lang="en-IN" i="1" dirty="0"/>
              <a:t>(Run it. Let the pause before the output land — don't fill the silence. When the output appears, read the top finding aloud before saying anything else.)</a:t>
            </a:r>
          </a:p>
          <a:p>
            <a:endParaRPr lang="en-IN" dirty="0"/>
          </a:p>
          <a:p>
            <a:r>
              <a:rPr lang="en-IN" dirty="0"/>
              <a:t>"That's what would normally take an intern an afternoon in Excel. Under a minute.”</a:t>
            </a:r>
          </a:p>
          <a:p>
            <a:endParaRPr lang="en-IN" dirty="0"/>
          </a:p>
          <a:p>
            <a:r>
              <a:rPr lang="en-IN" i="1" dirty="0"/>
              <a:t>(Let the room react. Then, briefly:)</a:t>
            </a:r>
          </a:p>
          <a:p>
            <a:endParaRPr lang="en-IN" dirty="0"/>
          </a:p>
          <a:p>
            <a:r>
              <a:rPr lang="en-IN" dirty="0"/>
              <a:t>"A few ways to do this depending on your tool — Copilot inside Excel itself with natural-language formulas and pivot tables, or just dropping a CSV straight into ChatGPT or Gemini. For Finance folks specifically — variance analysis, ratio checks, dashboard-ready summaries, all the same way.”</a:t>
            </a:r>
          </a:p>
          <a:p>
            <a:endParaRPr lang="en-IN" dirty="0"/>
          </a:p>
          <a:p>
            <a:r>
              <a:rPr lang="en-IN" dirty="0"/>
              <a:t>=================</a:t>
            </a:r>
          </a:p>
          <a:p>
            <a:endParaRPr lang="en-IN" dirty="0"/>
          </a:p>
          <a:p>
            <a:r>
              <a:rPr lang="en-IN" dirty="0"/>
              <a:t>"Now — let's watch it get something wrong."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 to say:</a:t>
            </a:r>
            <a:endParaRPr lang="en-IN" dirty="0"/>
          </a:p>
          <a:p>
            <a:r>
              <a:rPr lang="en-IN" dirty="0"/>
              <a:t>"Now let's watch it get something wrong."</a:t>
            </a:r>
          </a:p>
          <a:p>
            <a:r>
              <a:rPr lang="en-IN" i="1" dirty="0"/>
              <a:t>(Ask AI for one exact, verifiable statistic — pick this in advance and rehearse it once tonight. Good options: the market size of a specific niche industry, a mid-size country's population, or a well-known company's revenue for a specific year. Type it live:)</a:t>
            </a:r>
            <a:endParaRPr lang="en-IN" dirty="0"/>
          </a:p>
          <a:p>
            <a:r>
              <a:rPr lang="en-IN" dirty="0"/>
              <a:t>"What is the exact market size of [your chosen niche market] in dollars?"</a:t>
            </a:r>
          </a:p>
          <a:p>
            <a:r>
              <a:rPr lang="en-IN" i="1" dirty="0"/>
              <a:t>(Run it. Read the confident answer aloud, exactly as AI states it — don't editorialize yet.)</a:t>
            </a:r>
            <a:endParaRPr lang="en-IN" dirty="0"/>
          </a:p>
          <a:p>
            <a:r>
              <a:rPr lang="en-IN" dirty="0"/>
              <a:t>"Sounds authoritative, right? Let's check it."</a:t>
            </a:r>
          </a:p>
          <a:p>
            <a:r>
              <a:rPr lang="en-IN" i="1" dirty="0"/>
              <a:t>(Verify it live — a quick search, or against a source you already know. Let the room see the actual number and the gap between the two, whatever it turns out to be.)</a:t>
            </a:r>
            <a:endParaRPr lang="en-IN" dirty="0"/>
          </a:p>
          <a:p>
            <a:r>
              <a:rPr lang="en-IN" dirty="0"/>
              <a:t>"AI is a copilot, not an autopilot. Confidence is not correctness."</a:t>
            </a:r>
          </a:p>
          <a:p>
            <a:r>
              <a:rPr lang="en-IN" i="1" dirty="0"/>
              <a:t>(Let that line sit for a beat — don't rush past it.)</a:t>
            </a:r>
            <a:endParaRPr lang="en-IN" dirty="0"/>
          </a:p>
          <a:p>
            <a:r>
              <a:rPr lang="en-IN" dirty="0"/>
              <a:t>"So here's the question. If you were the manager relying on this kind of analysis — what decision would you make, and what would you check first?"</a:t>
            </a:r>
          </a:p>
          <a:p>
            <a:r>
              <a:rPr lang="en-IN" i="1" dirty="0"/>
              <a:t>(Take 1–2 quick answers. This is a sharp beat, not an open debate — don't let it turn into a 5-minute discussion.)</a:t>
            </a:r>
            <a:endParaRPr lang="en-IN" dirty="0"/>
          </a:p>
          <a:p>
            <a:r>
              <a:rPr lang="en-IN" dirty="0"/>
              <a:t>"This is step 5 of the workflow we'll end with today — verify before you use it.”</a:t>
            </a:r>
          </a:p>
          <a:p>
            <a:endParaRPr lang="en-IN" dirty="0"/>
          </a:p>
          <a:p>
            <a:r>
              <a:rPr lang="en-IN" dirty="0"/>
              <a:t>=========</a:t>
            </a:r>
          </a:p>
          <a:p>
            <a:endParaRPr lang="en-IN" dirty="0"/>
          </a:p>
          <a:p>
            <a:r>
              <a:rPr lang="en-IN" dirty="0"/>
              <a:t>"Alright — next up, Research. Can AI actually research a market for us, and how would we know if it's right?"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 to say:</a:t>
            </a:r>
            <a:endParaRPr lang="en-IN" dirty="0"/>
          </a:p>
          <a:p>
            <a:r>
              <a:rPr lang="en-IN" dirty="0"/>
              <a:t>"Take those guesses — can AI actually research a market for us, and how would we know if it's right?</a:t>
            </a:r>
          </a:p>
          <a:p>
            <a:r>
              <a:rPr lang="en-IN" dirty="0"/>
              <a:t>[Take 2–3 quick answers.]</a:t>
            </a:r>
          </a:p>
          <a:p>
            <a:r>
              <a:rPr lang="en-IN" dirty="0"/>
              <a:t>Let's see. This time I'm switching tools — to Perplexity."</a:t>
            </a:r>
          </a:p>
          <a:p>
            <a:r>
              <a:rPr lang="en-IN" i="1" dirty="0"/>
              <a:t>(Type live:)</a:t>
            </a:r>
            <a:endParaRPr lang="en-IN" dirty="0"/>
          </a:p>
          <a:p>
            <a:r>
              <a:rPr lang="en-IN" dirty="0"/>
              <a:t>"What are the top 3 emerging trends in India's specialty coffee market in 2026? Cite your sources."</a:t>
            </a:r>
          </a:p>
          <a:p>
            <a:r>
              <a:rPr lang="en-IN" i="1" dirty="0"/>
              <a:t>(Run it. Point directly at the citations as they appear.)</a:t>
            </a:r>
            <a:endParaRPr lang="en-IN" dirty="0"/>
          </a:p>
          <a:p>
            <a:r>
              <a:rPr lang="en-IN" dirty="0"/>
              <a:t>"Notice this — every claim has a source sitting right next to it. That's the difference between this and a plain ChatGPT answer. You can actually click through and check.</a:t>
            </a:r>
          </a:p>
          <a:p>
            <a:r>
              <a:rPr lang="en-IN" dirty="0"/>
              <a:t>This is what I'd reach for — market sizing, a competitor scan, a quick literature check before a meeting.</a:t>
            </a:r>
          </a:p>
          <a:p>
            <a:r>
              <a:rPr lang="en-IN" dirty="0"/>
              <a:t>But — and this connects straight back to what we just saw — it still needs a human check. Source quality varies. It can miss context a person in the room would catch. Citations make it easier to verify, not unnecessary to verify.”</a:t>
            </a:r>
          </a:p>
          <a:p>
            <a:endParaRPr lang="en-IN" dirty="0"/>
          </a:p>
          <a:p>
            <a:r>
              <a:rPr lang="en-IN" dirty="0"/>
              <a:t>============</a:t>
            </a:r>
          </a:p>
          <a:p>
            <a:endParaRPr lang="en-IN" dirty="0"/>
          </a:p>
          <a:p>
            <a:r>
              <a:rPr lang="en-IN" dirty="0"/>
              <a:t>"Next — Present. Quick guess: could AI actually design something visual, not just write text for us?"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 to say:</a:t>
            </a:r>
            <a:endParaRPr lang="en-IN" dirty="0"/>
          </a:p>
          <a:p>
            <a:r>
              <a:rPr lang="en-IN" dirty="0"/>
              <a:t>"Quick guess before I show you — could AI actually design something visual, or just write text for us?</a:t>
            </a:r>
          </a:p>
          <a:p>
            <a:r>
              <a:rPr lang="en-IN" dirty="0"/>
              <a:t>[Take 2–3 answers.]</a:t>
            </a:r>
          </a:p>
          <a:p>
            <a:endParaRPr lang="en-IN" dirty="0"/>
          </a:p>
          <a:p>
            <a:r>
              <a:rPr lang="en-IN" dirty="0"/>
              <a:t>Let's find out. Back to ChatGPT for the outline first."</a:t>
            </a:r>
          </a:p>
          <a:p>
            <a:r>
              <a:rPr lang="en-IN" i="1" dirty="0"/>
              <a:t>(Type live:)</a:t>
            </a:r>
          </a:p>
          <a:p>
            <a:endParaRPr lang="en-IN" dirty="0"/>
          </a:p>
          <a:p>
            <a:r>
              <a:rPr lang="en-IN" dirty="0"/>
              <a:t>"Create a 5-slide outline pitching a new café concept to investors: problem, concept, market, revenue model, ask. One line per slide."</a:t>
            </a:r>
          </a:p>
          <a:p>
            <a:r>
              <a:rPr lang="en-IN" i="1" dirty="0"/>
              <a:t>(Run it. Read the outline aloud briefly.)</a:t>
            </a:r>
          </a:p>
          <a:p>
            <a:endParaRPr lang="en-IN" dirty="0"/>
          </a:p>
          <a:p>
            <a:r>
              <a:rPr lang="en-IN" dirty="0"/>
              <a:t>"Good outline — but still just text. Watch what happens when I take this exact outline and paste it into Canva AI."</a:t>
            </a:r>
          </a:p>
          <a:p>
            <a:r>
              <a:rPr lang="en-IN" i="1" dirty="0"/>
              <a:t>(Switch tools. Paste the outline into Canva AI's Magic Design, or Gamma. Let it generate.)</a:t>
            </a:r>
          </a:p>
          <a:p>
            <a:endParaRPr lang="en-IN" dirty="0"/>
          </a:p>
          <a:p>
            <a:r>
              <a:rPr lang="en-IN" dirty="0"/>
              <a:t>"That's a full visual deck, generated from the outline we just wrote, in under a minute. Obviously it needs polish before it goes to an actual investor — but as a starting point instead of a blank slide, that's a real time save.</a:t>
            </a:r>
          </a:p>
          <a:p>
            <a:r>
              <a:rPr lang="en-IN" dirty="0"/>
              <a:t>A few ways to get here: Canva AI's Magic Design, Gamma if you want full documents or webpages too, or Copilot directly inside PowerPoint if you're already working from a Word doc.”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==============</a:t>
            </a:r>
          </a:p>
          <a:p>
            <a:endParaRPr lang="en-IN" dirty="0"/>
          </a:p>
          <a:p>
            <a:r>
              <a:rPr lang="en-IN" dirty="0"/>
              <a:t>"Last one — Automate. This one I'm not going to demo live, just point you to it quickly."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"Last one — Automate. I'm not demoing this live, just naming it, because it's less about a single dramatic moment and more about background plumbing.</a:t>
            </a:r>
          </a:p>
          <a:p>
            <a:endParaRPr lang="en-IN" dirty="0"/>
          </a:p>
          <a:p>
            <a:r>
              <a:rPr lang="en-IN" dirty="0"/>
              <a:t>Notion AI turns your meeting notes into action items and summaries automatically. Google Workspace AI or Microsoft Copilot will summarize a long email thread or draft a reply in context. Zapier or Power Automate connect your apps so routine tasks trigger without you touching them at all.</a:t>
            </a:r>
          </a:p>
          <a:p>
            <a:endParaRPr lang="en-IN" dirty="0"/>
          </a:p>
          <a:p>
            <a:r>
              <a:rPr lang="en-IN" dirty="0"/>
              <a:t>None of these are flashy demos, but they're the ones that save you the most time over a month, not a minute.”</a:t>
            </a:r>
          </a:p>
          <a:p>
            <a:endParaRPr lang="en-IN" dirty="0"/>
          </a:p>
          <a:p>
            <a:r>
              <a:rPr lang="en-IN" dirty="0"/>
              <a:t>===============</a:t>
            </a:r>
          </a:p>
          <a:p>
            <a:endParaRPr lang="en-IN" dirty="0"/>
          </a:p>
          <a:p>
            <a:r>
              <a:rPr lang="en-IN" dirty="0"/>
              <a:t>"The pattern across every demo you just saw: define the task, give context, set a format — then verify."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"Here's the exercise. Every table is getting one weak prompt — you'll see the actual list on the next slide.</a:t>
            </a:r>
          </a:p>
          <a:p>
            <a:endParaRPr lang="en-IN" dirty="0"/>
          </a:p>
          <a:p>
            <a:r>
              <a:rPr lang="en-IN" dirty="0"/>
              <a:t>You have two minutes. Use the formula from earlier — role, task, context, format — to rebuild your prompt into a much better one.</a:t>
            </a:r>
          </a:p>
          <a:p>
            <a:endParaRPr lang="en-IN" dirty="0"/>
          </a:p>
          <a:p>
            <a:r>
              <a:rPr lang="en-IN" dirty="0"/>
              <a:t>Then run both versions — the weak one and your improved one — and look at the difference in output.</a:t>
            </a:r>
          </a:p>
          <a:p>
            <a:endParaRPr lang="en-IN" dirty="0"/>
          </a:p>
          <a:p>
            <a:r>
              <a:rPr lang="en-IN" dirty="0"/>
              <a:t>Be ready to share what you found in about thirty seconds when I call on a few tables.”</a:t>
            </a:r>
          </a:p>
          <a:p>
            <a:endParaRPr lang="en-IN" dirty="0"/>
          </a:p>
          <a:p>
            <a:r>
              <a:rPr lang="en-IN" dirty="0"/>
              <a:t>=================</a:t>
            </a:r>
          </a:p>
          <a:p>
            <a:endParaRPr lang="en-IN" dirty="0"/>
          </a:p>
          <a:p>
            <a:r>
              <a:rPr lang="en-IN" dirty="0"/>
              <a:t>"Two minutes starts... now."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"Here they are. If your table is number one, you've got 'write a marketing email.' Number two, 'create a hiring plan.' Three, '</a:t>
            </a:r>
            <a:r>
              <a:rPr lang="en-IN" dirty="0" err="1"/>
              <a:t>analyze</a:t>
            </a:r>
            <a:r>
              <a:rPr lang="en-IN" dirty="0"/>
              <a:t> this spreadsheet.' Four, 'make a presentation.' Five, 'write a business proposal.’</a:t>
            </a:r>
          </a:p>
          <a:p>
            <a:endParaRPr lang="en-IN" dirty="0"/>
          </a:p>
          <a:p>
            <a:r>
              <a:rPr lang="en-IN" dirty="0"/>
              <a:t>If you're stuck on how to improve yours, look at the example at the bottom — that's the exact same move, just with a real prompt worked through. Weak on top, improved underneath.</a:t>
            </a:r>
          </a:p>
          <a:p>
            <a:endParaRPr lang="en-IN" dirty="0"/>
          </a:p>
          <a:p>
            <a:r>
              <a:rPr lang="en-IN" dirty="0"/>
              <a:t>Two minutes. Go."</a:t>
            </a:r>
          </a:p>
          <a:p>
            <a:endParaRPr lang="en-US" dirty="0"/>
          </a:p>
          <a:p>
            <a:r>
              <a:rPr lang="en-US" dirty="0"/>
              <a:t>============</a:t>
            </a:r>
          </a:p>
          <a:p>
            <a:endParaRPr lang="en-US" dirty="0"/>
          </a:p>
          <a:p>
            <a:r>
              <a:rPr lang="en-IN" dirty="0"/>
              <a:t>"Let's hear two or three — read us your weak prompt, then your improved one, back to back."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"Alright — Prompt Makeover done. Now the real thing.</a:t>
            </a:r>
          </a:p>
          <a:p>
            <a:endParaRPr lang="en-IN" dirty="0"/>
          </a:p>
          <a:p>
            <a:r>
              <a:rPr lang="en-IN" dirty="0"/>
              <a:t>You're opening a specialty café in Mangaluru, targeting young professionals and students. You have three months and a modest budget. Using AI, your group is going to produce a one-page launch plan — business concept, marketing strategy, budget, hiring plan, and a one-slide pitch. All five, using AI as your first draft.</a:t>
            </a:r>
          </a:p>
          <a:p>
            <a:endParaRPr lang="en-IN" dirty="0"/>
          </a:p>
          <a:p>
            <a:r>
              <a:rPr lang="en-IN" dirty="0"/>
              <a:t>Form groups of four to five. Pick one person as your prompt captain — they'll be typing, but everyone should be shaping what goes in.</a:t>
            </a:r>
          </a:p>
          <a:p>
            <a:endParaRPr lang="en-IN" dirty="0"/>
          </a:p>
          <a:p>
            <a:r>
              <a:rPr lang="en-IN" dirty="0"/>
              <a:t>You've got fifteen minutes. Go."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"This stays up on screen the whole time you're working — so if you forget what you're building, just look up.</a:t>
            </a:r>
          </a:p>
          <a:p>
            <a:endParaRPr lang="en-IN" dirty="0"/>
          </a:p>
          <a:p>
            <a:r>
              <a:rPr lang="en-IN" dirty="0"/>
              <a:t>Five things, all using AI as your first draft, not your final answer: a business concept, a marketing strategy, a rough budget, a hiring plan, and one visual pitch slide.</a:t>
            </a:r>
          </a:p>
          <a:p>
            <a:endParaRPr lang="en-IN" dirty="0"/>
          </a:p>
          <a:p>
            <a:r>
              <a:rPr lang="en-IN" dirty="0"/>
              <a:t>Use the formula. Assign your captain. Go."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"Quick time check — you should be deep into your five deliverables right now. Five minutes left before I ask you to pick your best output, your biggest mistake, and one improved prompt to share.”</a:t>
            </a:r>
          </a:p>
          <a:p>
            <a:endParaRPr lang="en-IN" dirty="0"/>
          </a:p>
          <a:p>
            <a:r>
              <a:rPr lang="en-IN" dirty="0"/>
              <a:t>===========</a:t>
            </a:r>
          </a:p>
          <a:p>
            <a:endParaRPr lang="en-IN" dirty="0"/>
          </a:p>
          <a:p>
            <a:r>
              <a:rPr lang="en-IN" dirty="0"/>
              <a:t>"Time's up — let's hear what you've got. Screens up, and let's go around."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 to say (to open the segment):</a:t>
            </a:r>
          </a:p>
          <a:p>
            <a:endParaRPr lang="en-IN" dirty="0"/>
          </a:p>
          <a:p>
            <a:r>
              <a:rPr lang="en-IN" dirty="0"/>
              <a:t>"Alright — one minute per group, no full walkthroughs. Just hit these three things: your best output, your biggest AI mistake and how you caught it, and one prompt you improved along with what changed.</a:t>
            </a:r>
          </a:p>
          <a:p>
            <a:r>
              <a:rPr lang="en-IN" dirty="0"/>
              <a:t>[Point at group 1 or call a name.] Let's start here.”</a:t>
            </a:r>
          </a:p>
          <a:p>
            <a:endParaRPr lang="en-IN" dirty="0"/>
          </a:p>
          <a:p>
            <a:r>
              <a:rPr lang="en-IN" i="1" dirty="0"/>
              <a:t>(As each group shares, keep pace tight. If a group runs long, gently redirect:)</a:t>
            </a:r>
            <a:endParaRPr lang="en-IN" dirty="0"/>
          </a:p>
          <a:p>
            <a:r>
              <a:rPr lang="en-IN" dirty="0"/>
              <a:t>"Great — give us just the headline on the rest, we've got other groups waiting.”</a:t>
            </a:r>
          </a:p>
          <a:p>
            <a:endParaRPr lang="en-IN" dirty="0"/>
          </a:p>
          <a:p>
            <a:r>
              <a:rPr lang="en-IN" i="1" dirty="0"/>
              <a:t>(If a group goes quiet or isn't sure what to say, use the 3 questions on screen directly:)</a:t>
            </a:r>
            <a:endParaRPr lang="en-IN" dirty="0"/>
          </a:p>
          <a:p>
            <a:r>
              <a:rPr lang="en-IN" dirty="0"/>
              <a:t>"What's the one output you're proudest of? ... What was your biggest AI mistake? ... Show us one prompt you improved.”</a:t>
            </a:r>
          </a:p>
          <a:p>
            <a:endParaRPr lang="en-IN" dirty="0"/>
          </a:p>
          <a:p>
            <a:r>
              <a:rPr lang="en-IN" dirty="0"/>
              <a:t>=========</a:t>
            </a:r>
          </a:p>
          <a:p>
            <a:endParaRPr lang="en-IN" dirty="0"/>
          </a:p>
          <a:p>
            <a:r>
              <a:rPr lang="en-IN" dirty="0"/>
              <a:t>"Great work all around. Let's close with a few things to keep in mind as you actually use these tools."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"Four quick things to carry with you.</a:t>
            </a:r>
          </a:p>
          <a:p>
            <a:r>
              <a:rPr lang="en-IN" dirty="0"/>
              <a:t>Verify before you use it — we saw this live earlier, numbers and facts need a human check.</a:t>
            </a:r>
          </a:p>
          <a:p>
            <a:endParaRPr lang="en-IN" dirty="0"/>
          </a:p>
          <a:p>
            <a:r>
              <a:rPr lang="en-IN" dirty="0"/>
              <a:t>Disclose when it matters — if a report or assignment leaned heavily on AI, say so. Norms differ between classroom and workplace, but transparency builds trust either way.</a:t>
            </a:r>
          </a:p>
          <a:p>
            <a:endParaRPr lang="en-IN" dirty="0"/>
          </a:p>
          <a:p>
            <a:r>
              <a:rPr lang="en-IN" dirty="0"/>
              <a:t>Protect confidential data — never paste client information, financials, or anything personal into a public AI tool.</a:t>
            </a:r>
          </a:p>
          <a:p>
            <a:endParaRPr lang="en-IN" dirty="0"/>
          </a:p>
          <a:p>
            <a:r>
              <a:rPr lang="en-IN" dirty="0"/>
              <a:t>And know its limits — it's weak on very recent events, nuanced judgment calls, and anything where real accountability matters.”</a:t>
            </a:r>
          </a:p>
          <a:p>
            <a:endParaRPr lang="en-IN" dirty="0"/>
          </a:p>
          <a:p>
            <a:r>
              <a:rPr lang="en-IN" dirty="0"/>
              <a:t>==========</a:t>
            </a:r>
          </a:p>
          <a:p>
            <a:endParaRPr lang="en-IN" dirty="0"/>
          </a:p>
          <a:p>
            <a:r>
              <a:rPr lang="en-IN" dirty="0"/>
              <a:t>"And if you remember nothing else from today, remember this one framework.”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"If you remember nothing else from today, remember this.</a:t>
            </a:r>
          </a:p>
          <a:p>
            <a:endParaRPr lang="en-IN" dirty="0"/>
          </a:p>
          <a:p>
            <a:r>
              <a:rPr lang="en-IN" dirty="0"/>
              <a:t>Define the task — know exactly what you need. Provide context — the audience, the background, the facts it wouldn't otherwise know. Give constraints — length, tone, format, deadline. Review the output — read it like a manager, not a passenger. And verify before you use it — check the facts, the numbers, the names, against something real.</a:t>
            </a:r>
          </a:p>
          <a:p>
            <a:endParaRPr lang="en-IN" dirty="0"/>
          </a:p>
          <a:p>
            <a:r>
              <a:rPr lang="en-IN" dirty="0"/>
              <a:t>That's it. Five steps. This is what turns AI from a toy into a tool.</a:t>
            </a:r>
          </a:p>
          <a:p>
            <a:endParaRPr lang="en-IN" dirty="0"/>
          </a:p>
          <a:p>
            <a:r>
              <a:rPr lang="en-IN" dirty="0"/>
              <a:t>AI is a copilot, not an autopilot.”</a:t>
            </a:r>
          </a:p>
          <a:p>
            <a:endParaRPr lang="en-IN" dirty="0"/>
          </a:p>
          <a:p>
            <a:r>
              <a:rPr lang="en-IN" dirty="0"/>
              <a:t>=========</a:t>
            </a:r>
          </a:p>
          <a:p>
            <a:endParaRPr lang="en-IN" dirty="0"/>
          </a:p>
          <a:p>
            <a:r>
              <a:rPr lang="en-IN" dirty="0"/>
              <a:t>"Last thing — one challenge before you leave."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"Here's your challenge.</a:t>
            </a:r>
          </a:p>
          <a:p>
            <a:r>
              <a:rPr lang="en-IN" dirty="0"/>
              <a:t>Use AI to solve one real problem before next week — not an assignment, an actual problem. Something for a club you're in, a side project, helping a friend's business, anything real.</a:t>
            </a:r>
          </a:p>
          <a:p>
            <a:r>
              <a:rPr lang="en-IN" dirty="0"/>
              <a:t>Come away with one story you can tell in an interview — not 'I use ChatGPT,' but a specific moment where AI helped you think better, not just work faster.</a:t>
            </a:r>
          </a:p>
          <a:p>
            <a:r>
              <a:rPr lang="en-IN" dirty="0"/>
              <a:t>That's the difference that actually matters. In an interview, this becomes a story about your judgment, not a tool name-drop. On the job, your value was never typing speed — it's asking better questions and catching what AI misses. And the only way to get good at that is repetition — pick one tool, use it weekly, starting now.”</a:t>
            </a:r>
          </a:p>
          <a:p>
            <a:endParaRPr lang="en-IN" dirty="0"/>
          </a:p>
          <a:p>
            <a:r>
              <a:rPr lang="en-IN" dirty="0"/>
              <a:t>==========</a:t>
            </a:r>
          </a:p>
          <a:p>
            <a:endParaRPr lang="en-IN" dirty="0"/>
          </a:p>
          <a:p>
            <a:r>
              <a:rPr lang="en-IN" dirty="0"/>
              <a:t>"Thank you all — this was genuinely fun to run. Questions and pushback are welcome, I'm happy to stick around. I'll get the takeaway resource sheet — the prompt library, the workflow, everything — shared with you after this."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-173736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89920" y="4023360"/>
            <a:ext cx="2926080" cy="2926080"/>
          </a:xfrm>
          <a:prstGeom prst="ellipse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FACILITATOR</a:t>
            </a:r>
            <a:endParaRPr lang="en-US" sz="1300" dirty="0"/>
          </a:p>
        </p:txBody>
      </p:sp>
      <p:pic>
        <p:nvPicPr>
          <p:cNvPr id="6" name="Image 0" descr="/home/claude/workshop/disclosure_slide/raghu_phot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283464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69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Raghu Anand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Head of Tech L&amp;D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+91 - 7624886968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285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ragan@eg.dk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77640" y="996696"/>
            <a:ext cx="109728" cy="109728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5196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years of proven industry experience.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977640" y="1453896"/>
            <a:ext cx="109728" cy="109728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5196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 IT professionals successfully trained — both freshers and experienced.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977640" y="1911096"/>
            <a:ext cx="109728" cy="109728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51960" y="1783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expertise across 45+ technical domains, from legacy Mainframes to modern Artificial Intelligence (AI).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977640" y="2596896"/>
            <a:ext cx="109728" cy="109728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51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Trainees from India, the US, Europe, Singapore, Bangladesh, Sri Lanka and Africa.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977640" y="3054096"/>
            <a:ext cx="109728" cy="109728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5196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enjoy gardening, cooking, and cycling.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977640" y="3566160"/>
            <a:ext cx="7589520" cy="18288"/>
          </a:xfrm>
          <a:prstGeom prst="rect">
            <a:avLst/>
          </a:prstGeom>
          <a:solidFill>
            <a:srgbClr val="3A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97764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HIGHLIGHT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977640" y="42062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two enterprise capability organizations from scratch, during periods of hypergrowth.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962400" y="463600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AI Capability Framework delivering 2–3× engineering productivity improvements.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977640" y="50621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an IIT Guwahati (MeitY) &amp; Woolf University–accredited book on the MERN Stack · 30+ career awards.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- All Rights Reserved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0" y="4206240"/>
            <a:ext cx="2560320" cy="2560320"/>
          </a:xfrm>
          <a:prstGeom prst="ellipse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FACILITATOR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Raghu Anand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Capability &amp; Workforce Transformation Leader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Head of Tech L&amp;D, EG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536192"/>
            <a:ext cx="10908792" cy="420624"/>
          </a:xfrm>
          <a:prstGeom prst="rect">
            <a:avLst/>
          </a:prstGeom>
          <a:solidFill>
            <a:srgbClr val="1F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5361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Repeatedly built enterprise capability organizations from zero — during periods of hypergrowth.</a:t>
            </a:r>
            <a:endParaRPr lang="en-US" sz="1250" dirty="0"/>
          </a:p>
        </p:txBody>
      </p:sp>
      <p:pic>
        <p:nvPicPr>
          <p:cNvPr id="11" name="Image 0" descr="/home/claude/workshop/disclosure_slide/raghu_phot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8256"/>
            <a:ext cx="1828800" cy="1828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9502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ragan@eg.dk   ·   +91 - 7624886968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93544" y="2387301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SNAPSHOT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93544" y="2716485"/>
            <a:ext cx="82296" cy="82296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3000" y="2625045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65344" y="2716485"/>
            <a:ext cx="82296" cy="82296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93944" y="2625045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3,200-Employee Enterprise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765344" y="3027381"/>
            <a:ext cx="82296" cy="82296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93944" y="293594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Countries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793544" y="3081320"/>
            <a:ext cx="45719" cy="82296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022144" y="298988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Executive Stakeholders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2793544" y="3420573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Denmark · Sweden · Norway · Finland · Poland · Singapore · USA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0080" y="4315968"/>
            <a:ext cx="10908792" cy="18288"/>
          </a:xfrm>
          <a:prstGeom prst="rect">
            <a:avLst/>
          </a:prstGeom>
          <a:solidFill>
            <a:srgbClr val="3A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0080" y="444398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ACHIEVEMENTS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4764024"/>
            <a:ext cx="82296" cy="82296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59536" y="46634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two enterprise capability organizations from scratch, during periods of hypergrowth.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989320" y="4764024"/>
            <a:ext cx="82296" cy="82296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208776" y="46634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AI Capability Framework delivering 2–3× engineering productivity improvements.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40080" y="5266944"/>
            <a:ext cx="82296" cy="82296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59536" y="51663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engineering onboarding time by 62%.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989320" y="5266944"/>
            <a:ext cx="82296" cy="82296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208776" y="51663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543-member engineering learning ecosystem.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40080" y="5769864"/>
            <a:ext cx="82296" cy="82296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59536" y="56692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an IIT Guwahati (MeitY) &amp; Woolf University–accredited book on the MERN Stack · 30+ career awards.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5989320" y="5769864"/>
            <a:ext cx="82296" cy="82296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208776" y="566928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partner to 40+ senior leaders — Global CXOs, EVPs, BU &amp; Product Heads — driving enterprise capability strategy.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NOTE ON HOW THIS WAS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Disclosure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02920" cy="54864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slides, exercises, and facilitator materials for this workshop were developed with the assistance of Claude, an AI system by Anthropic.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7C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content has been reviewed by the facilitator, who takes full responsibility for its accuracy and appropriateness for this audience.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SKILLS FOR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MANAGERS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Leveraging AI for Smarter Decision-Making and Productivity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8368" y="4251960"/>
            <a:ext cx="502920" cy="54864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Workshop  •  HR · Finance · Marketing  •  60 Minutes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July 2026  |  10:30 AM – 11:30 AM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spend the next 60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8521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1691640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of 2030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1691640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opening + 2030 hook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195560" y="1691640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68296"/>
            <a:ext cx="1088136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368296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36829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Fundamentals &amp; Prompting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36829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you need before the demos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95560" y="2368296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44952"/>
            <a:ext cx="10881360" cy="58521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044952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3044952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Demo Day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044952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Communicate, Analyze + Reality Check, Research, Present, Automate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95560" y="3044952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21608"/>
            <a:ext cx="1088136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721608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3721608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Makeover Exercise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3721608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weak prompt, see the output change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95560" y="3721608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398264"/>
            <a:ext cx="10881360" cy="58521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398264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37360" y="4398264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Launch the Café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4398264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group work with AI tools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195560" y="4398264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1088136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5074920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737360" y="5074920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83680" y="5074920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output, biggest mistake, improved prompt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95560" y="5074920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751576"/>
            <a:ext cx="10881360" cy="58521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5751576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737360" y="575157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Wrap-Up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83680" y="575157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framework + your challenge for next week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195560" y="5751576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 · 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Manager of 2030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55448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it's 2030. Two MBA graduates join the same company with identical grades. One knows how to work with AI effectively, the other doesn't. Six months later, who becomes indispensable?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workshop is about becoming the first manager.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CEDE"/>
                </a:solidFill>
              </a:rPr>
              <a:t>Quick show of hands: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used ChatGPT, Gemini, or Copilot for something beyond an assignment?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5093208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509320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thinks AI will make a manager's job easier? Harder?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 · 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— whatever you specialize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0233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trend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is changing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0120" y="3703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analysis, drafting, and research are being automated. Judgment, framing the right question, and verifying output are becoming the manager's real job.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1874520"/>
            <a:ext cx="3520440" cy="40233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target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94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Employers are already testing for it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754880" y="3703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fluency now shows up in case interviews, internship tasks, and job descriptions across HR, Finance, and Marketing alike.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0" y="1874520"/>
            <a:ext cx="3520440" cy="40233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users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194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4964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team-wide skill, not an IT skill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549640" y="3703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code. You need to know which tool to reach for, and how to ask for what you need.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generative AI actually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ChatGPT, Gemini, and Copilot predict the most useful next words given your input — they don't “know” facts the way a database does. That's why how you prompt changes what you get.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73152" cy="9144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generates, not retrieves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freshly written based on patterns — which is why it can be wrong, and why exact numbers need checking.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73152" cy="91440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changes quality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relevant detail you give it, the more useful and specific the output.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00600"/>
            <a:ext cx="73152" cy="9144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memory of your business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you tell it, it doesn't know your company, your data, or your goals.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prompting formula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EDE"/>
                </a:solidFill>
              </a:rPr>
              <a:t>Use this for every demo and every task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51760" cy="338328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an HR manager...”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</a:rPr>
              <a:t>+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93008" y="2103120"/>
            <a:ext cx="2651760" cy="3383280"/>
          </a:xfrm>
          <a:prstGeom prst="rect">
            <a:avLst/>
          </a:prstGeom>
          <a:solidFill>
            <a:srgbClr val="264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75888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75888" y="2880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“...write a job description for...”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48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</a:rPr>
              <a:t>+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345936" y="2103120"/>
            <a:ext cx="2651760" cy="338328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28816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8816" y="2880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“...for a mid-size FMCG firm, 3 years experience...”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51976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</a:rPr>
              <a:t>+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198864" y="2103120"/>
            <a:ext cx="2651760" cy="3383280"/>
          </a:xfrm>
          <a:prstGeom prst="rect">
            <a:avLst/>
          </a:prstGeom>
          <a:solidFill>
            <a:srgbClr val="264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81744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81744" y="2880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“...in under 200 words, bullet format.”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prompt: “Write a marketing email.”   →   Better prompt: “Act as a marketing manager. Write a 100-word email to existing customers announcing a 20% festive discount, in a warm, friendly tone.”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in the Life of a Manager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CEDE"/>
                </a:solidFill>
              </a:rPr>
              <a:t>Live demonstrations — 18 minutes</a:t>
            </a:r>
            <a:endParaRPr lang="en-US" sz="1300" dirty="0"/>
          </a:p>
        </p:txBody>
      </p:sp>
      <p:pic>
        <p:nvPicPr>
          <p:cNvPr id="6" name="Image 0" descr="icons/mail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66751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548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366760" y="548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 &amp; messages</a:t>
            </a:r>
            <a:endParaRPr lang="en-US" sz="1250" dirty="0"/>
          </a:p>
        </p:txBody>
      </p:sp>
      <p:pic>
        <p:nvPicPr>
          <p:cNvPr id="9" name="Image 1" descr="icons/analyze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562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36676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spreadsheet AI</a:t>
            </a:r>
            <a:endParaRPr lang="en-US" sz="1250" dirty="0"/>
          </a:p>
        </p:txBody>
      </p:sp>
      <p:pic>
        <p:nvPicPr>
          <p:cNvPr id="12" name="Image 2" descr="icons/research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04495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36676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verify, decide</a:t>
            </a:r>
            <a:endParaRPr lang="en-US" sz="1250" dirty="0"/>
          </a:p>
        </p:txBody>
      </p:sp>
      <p:pic>
        <p:nvPicPr>
          <p:cNvPr id="15" name="Image 3" descr="icons/present_1B2A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233672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4068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36676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&amp; visuals in minutes</a:t>
            </a:r>
            <a:endParaRPr lang="en-US" sz="1250" dirty="0"/>
          </a:p>
        </p:txBody>
      </p:sp>
      <p:pic>
        <p:nvPicPr>
          <p:cNvPr id="18" name="Image 4" descr="icons/automate_1B2A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5422392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40680" y="5303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36676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→ action, on autopilot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mail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0" y="3657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C7CEDE"/>
                </a:solidFill>
              </a:rPr>
              <a:t>ChatGPT / Copilot • 3 minutes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prompt to type on screen: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0515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“Act as an HR manager. Write a 120-word email to a shortlisted candidate inviting them for a second interview next Tuesday at 3 PM, in a warm and professional tone.”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skill, every function: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6850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86000" y="3685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to a new hire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41422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286000" y="4142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email to a prospective client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7548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45994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286000" y="4599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Budget-variance clarification to a department head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analyze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— Excel &amp; Spreadsheets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0" y="3657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C7CEDE"/>
                </a:solidFill>
              </a:rPr>
              <a:t>Copilot in Excel / ChatGPT + file upload • 6 minutes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2834640" cy="36576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 THE WOW MOMENT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spreadsheet of messy sales or survey data. In under a minute, ask AI to summarize it, find the trend, and flag anomalies — no formulas typed.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880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prompt to type after uploading the file: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200400"/>
            <a:ext cx="10881360" cy="10515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337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“Act as a business analyst. Summarize the key trends in this sales data, identify the top 3 underperforming regions, and suggest one possible reason for each — in a short table.”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0080" y="4526280"/>
            <a:ext cx="3520440" cy="15087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4663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Excel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296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“=COPILOT()” formulas, natural-language pivot tables, formula explanations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34840" y="4526280"/>
            <a:ext cx="3520440" cy="15087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17720" y="4663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 file upload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61772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CSV — ask for summaries, charts, or anomaly detection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0" y="4526280"/>
            <a:ext cx="3520440" cy="15087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412480" y="4663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angle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41248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analysis, ratio checks, dashboard-ready summaries in seconds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</a:rPr>
              <a:t>Reminder: always re-check totals and any figure that will go in front of a client or leadership.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shield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2, CONTINUED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Reality Check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watch AI get something wrong — live: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1088136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194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is the exact market size of [a specific niche market] in dollars?” — or any other precise, verifiable statistic.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confident answer on screen — then verify it against a trusted source live. Let the room see the gap.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931920"/>
            <a:ext cx="10881360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393192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“AI is a copilot, not an autopilot. Confidence is not correctness.”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5257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“If you were the manager relying on this analysis, what decision would you make — and what would you check first?”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research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&amp; Decide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0" y="3657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C7CEDE"/>
                </a:solidFill>
              </a:rPr>
              <a:t>Perplexity / ChatGPT • 3 minutes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prompt to type on screen: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0515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are the top 3 emerging trends in India's specialty coffee market in 2026? Cite your sources.”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Perplexity/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research: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6850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sources next to every claim — easier to verify than a plain chat answer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41879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market sizing, competitor scans, and quick literature reviews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84632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46908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a human check: source quality varies, and it can miss context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present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0" y="3657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C7CEDE"/>
                </a:solidFill>
              </a:rPr>
              <a:t>Canva AI / Gamma / PPT outline • 4 minutes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prompt to type on screen: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0515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“Create a 5-slide outline pitching a new café concept to investors: problem, concept, market, revenue model, ask. One line per slide.”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paste the outline into Canva AI or Gamma to auto-generate visuals — a rough deck in under a minute.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977640"/>
            <a:ext cx="3520440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AI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44805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Design turns a topic or outline into a visual deck instantly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34840" y="3977640"/>
            <a:ext cx="3520440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1772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617720" y="44805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presentations, docs, or webpages from one prompt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0" y="3977640"/>
            <a:ext cx="3520440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1248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PowerPoint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412480" y="44805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slides directly from a Word doc or prompt inside PPT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automate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0" y="3657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C7CEDE"/>
                </a:solidFill>
              </a:rPr>
              <a:t>Notion AI / Workspace AI • 2 minutes, mentioned only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mention — not a full demo: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73152" cy="7772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1671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meeting notes into action items and summaries automatically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154680"/>
            <a:ext cx="73152" cy="7772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1272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AI / Microsoft Copilot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14400" y="34747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long email threads and docs, drafts replies in context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114800"/>
            <a:ext cx="73152" cy="7772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40873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/ Power Automate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apps so routine tasks trigger without you touching them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across every demo: define the task, give context, set a format — then verify.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 · PROMPT MAKEOVER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Makeover Exercise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EDE"/>
                </a:solidFill>
              </a:rPr>
              <a:t>Better prompts produce dramatically better outputs — let's prove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77240" cy="77724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table gets one weak prompt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next slide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77240" cy="77724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32918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2 minutes to improve it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0" y="3291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ROLE + TASK + CONTEXT + FORMAT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777240" cy="77724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0200" y="42519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both outputs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7240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weak version and your improved 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777240" cy="77724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00200" y="5212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which is better, and why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772400" y="5212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share in 30 seconds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 · PROMPT MAKEOVER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your table's weak prompt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39"/>
            <a:ext cx="2084832" cy="209474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810512" cy="1116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“Write a sales pitch email.”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0068" y="1691639"/>
            <a:ext cx="2084832" cy="209474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67228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67228" y="2103120"/>
            <a:ext cx="1810512" cy="1116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“Create a hiring plan.”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0056" y="1691639"/>
            <a:ext cx="2084832" cy="209474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57216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57216" y="2103120"/>
            <a:ext cx="1810512" cy="1116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“Analyze this spreadsheet.”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10044" y="1691639"/>
            <a:ext cx="2084832" cy="209474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47204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47204" y="2103120"/>
            <a:ext cx="1810512" cy="1116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“Make a presentation.”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00032" y="1691639"/>
            <a:ext cx="2084832" cy="209474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37192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37192" y="2103120"/>
            <a:ext cx="1810512" cy="1116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“Write a business proposal.”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340D9767-EA6C-91CC-A8CA-F7FBE0D3F413}"/>
              </a:ext>
            </a:extLst>
          </p:cNvPr>
          <p:cNvSpPr/>
          <p:nvPr/>
        </p:nvSpPr>
        <p:spPr>
          <a:xfrm>
            <a:off x="655320" y="4106428"/>
            <a:ext cx="10881360" cy="7772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D88945A9-8852-3E93-42B2-04F8FEF3AA1D}"/>
              </a:ext>
            </a:extLst>
          </p:cNvPr>
          <p:cNvSpPr/>
          <p:nvPr/>
        </p:nvSpPr>
        <p:spPr>
          <a:xfrm>
            <a:off x="929640" y="41064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Weak:  “Write a marketing email.”</a:t>
            </a:r>
            <a:endParaRPr lang="en-US" sz="135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2BD474D5-73CD-B98B-7414-27144455D2F6}"/>
              </a:ext>
            </a:extLst>
          </p:cNvPr>
          <p:cNvSpPr/>
          <p:nvPr/>
        </p:nvSpPr>
        <p:spPr>
          <a:xfrm>
            <a:off x="655320" y="4975108"/>
            <a:ext cx="10881360" cy="13258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6DAD9C93-D771-ACE3-01F5-186B33FA58EB}"/>
              </a:ext>
            </a:extLst>
          </p:cNvPr>
          <p:cNvSpPr/>
          <p:nvPr/>
        </p:nvSpPr>
        <p:spPr>
          <a:xfrm>
            <a:off x="929640" y="4975108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Improved:  “Act as a marketing manager for a specialty café in Mangaluru. Write a 120-word email announcing our grand opening to college students and young professionals. Use a friendly tone, include one promotional offer, and end with a clear call-to-action.”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offee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058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 · HANDS-ON CHALLENGE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Launching a Café in Mangaluru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CEDE"/>
                </a:solidFill>
              </a:rPr>
              <a:t>15 minutes · Groups of 4–5 · Your phone or laptop, any AI tool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 ·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2344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“Your group is opening a specialty café in Mangaluru targeting young professionals and students. You have 3 months and a modest budget. Using AI tools, produce a one-page launch plan.”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must produce, using AI as a first draft: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5935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359359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Positioning, target customer, differentiator (3–4 lines)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0507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405079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channels + one campaign idea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5079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snapshot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450799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monthly cost estimate, 5–6-line items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9651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496519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roles needed + one draft JD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5422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1-slide pitch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542239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visual slide, AI-generated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 ·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15 minutes breaks 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55448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87452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groups of 4–5, assign one “prompt captain” per group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55448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all 5 deliverables using the prompting formula from Part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55448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379476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best output, your biggest AI mistake, and one improved prompt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55448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475488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presentation area / prepare to share screen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 · SHARE &amp; DISCUSS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share-outs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</a:rPr>
              <a:t>Roughly 1 minute per group — no full walkthroughs, just the highlight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686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one AI output you're proudest of?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8813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your biggest AI mistake — and how did you catch it?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8686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us one prompt you improved, and what changed in the output.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6 · WRAP-UP</a:t>
            </a:r>
            <a:endParaRPr lang="en-US" sz="1300" dirty="0"/>
          </a:p>
        </p:txBody>
      </p:sp>
      <p:pic>
        <p:nvPicPr>
          <p:cNvPr id="3" name="Image 0" descr="icons/shield_F2B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AI responsibly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5212080" cy="187452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use it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quotes, and names need a human check — AI can sound confident and still be wrong.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965960"/>
            <a:ext cx="5212080" cy="187452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when it matters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00800" y="2651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report, essay, or deliverable leaned heavily on AI, say so — norms vary by classroom and workplace.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069080"/>
            <a:ext cx="5212080" cy="187452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confidential data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1440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client data, financials, or personal information into a public AI tool.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4069080"/>
            <a:ext cx="5212080" cy="187452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4251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its limits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40080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weak on very recent events, nuanced judgment calls, and anything needing real accountability.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6 ·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5-Step AI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</a:rPr>
              <a:t>Your one takeaway — AI is a copilot, not an autopilot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084832" cy="35661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do you need — an email, a summary, an analysis?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0068" y="2103120"/>
            <a:ext cx="2084832" cy="356616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67228" y="22860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67228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67228" y="35204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Audience, background, and any relevant facts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0056" y="2103120"/>
            <a:ext cx="2084832" cy="35661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57216" y="22860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57216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constraints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57216" y="35204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tone, format, deadline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10044" y="2103120"/>
            <a:ext cx="2084832" cy="356616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47204" y="22860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47204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output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47204" y="35204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a manager, not a passenger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00032" y="2103120"/>
            <a:ext cx="2084832" cy="35661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537192" y="22860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537192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using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37192" y="35204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facts, numbers, and names against a real source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next week...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280160"/>
          </a:xfrm>
          <a:prstGeom prst="rect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AI to solve one real problem — not an assignment. Come away with one story you can tell in an interview about how AI helped you think better, not just work faster.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your career: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interviews: this is a story about judgment, not a tool name-drop.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42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 the job: your value is asking better questions and catching what AI misses.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81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the habit now — use one tool weekly and get sharper through repetition.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and pushback welcome. Takeaway resource sheet will be shared after the session.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692181-A727-9F44-B6AC-4A8893ED054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96be860-4396-4bc4-ba15-e1a222c6eb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5905</Words>
  <Application>Microsoft Macintosh PowerPoint</Application>
  <PresentationFormat>Widescreen</PresentationFormat>
  <Paragraphs>625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Raghu Anand</cp:lastModifiedBy>
  <cp:revision>3</cp:revision>
  <dcterms:created xsi:type="dcterms:W3CDTF">2026-07-14T16:02:54Z</dcterms:created>
  <dcterms:modified xsi:type="dcterms:W3CDTF">2026-07-15T04:07:39Z</dcterms:modified>
</cp:coreProperties>
</file>